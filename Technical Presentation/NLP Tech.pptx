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90" r:id="rId3"/>
    <p:sldId id="291" r:id="rId4"/>
    <p:sldId id="283" r:id="rId5"/>
    <p:sldId id="284" r:id="rId6"/>
    <p:sldId id="296" r:id="rId7"/>
    <p:sldId id="288" r:id="rId8"/>
    <p:sldId id="293" r:id="rId9"/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2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91" d="100"/>
          <a:sy n="91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lavi Burra" userId="790c07cc2f59b1a5" providerId="LiveId" clId="{08832E33-9F35-4EB2-94D1-4AAAA1DA2FC3}"/>
    <pc:docChg chg="modSld">
      <pc:chgData name="Pallavi Burra" userId="790c07cc2f59b1a5" providerId="LiveId" clId="{08832E33-9F35-4EB2-94D1-4AAAA1DA2FC3}" dt="2026-07-15T09:23:57.690" v="7" actId="1076"/>
      <pc:docMkLst>
        <pc:docMk/>
      </pc:docMkLst>
      <pc:sldChg chg="modSp mod">
        <pc:chgData name="Pallavi Burra" userId="790c07cc2f59b1a5" providerId="LiveId" clId="{08832E33-9F35-4EB2-94D1-4AAAA1DA2FC3}" dt="2026-07-15T09:23:57.690" v="7" actId="1076"/>
        <pc:sldMkLst>
          <pc:docMk/>
          <pc:sldMk cId="0" sldId="259"/>
        </pc:sldMkLst>
        <pc:spChg chg="mod">
          <ac:chgData name="Pallavi Burra" userId="790c07cc2f59b1a5" providerId="LiveId" clId="{08832E33-9F35-4EB2-94D1-4AAAA1DA2FC3}" dt="2026-07-15T09:23:49.927" v="6" actId="113"/>
          <ac:spMkLst>
            <pc:docMk/>
            <pc:sldMk cId="0" sldId="259"/>
            <ac:spMk id="7" creationId="{00000000-0000-0000-0000-000000000000}"/>
          </ac:spMkLst>
        </pc:spChg>
        <pc:spChg chg="mod">
          <ac:chgData name="Pallavi Burra" userId="790c07cc2f59b1a5" providerId="LiveId" clId="{08832E33-9F35-4EB2-94D1-4AAAA1DA2FC3}" dt="2026-07-15T09:23:25.729" v="2" actId="1076"/>
          <ac:spMkLst>
            <pc:docMk/>
            <pc:sldMk cId="0" sldId="259"/>
            <ac:spMk id="8" creationId="{00000000-0000-0000-0000-000000000000}"/>
          </ac:spMkLst>
        </pc:spChg>
        <pc:picChg chg="mod">
          <ac:chgData name="Pallavi Burra" userId="790c07cc2f59b1a5" providerId="LiveId" clId="{08832E33-9F35-4EB2-94D1-4AAAA1DA2FC3}" dt="2026-07-15T09:23:57.690" v="7" actId="1076"/>
          <ac:picMkLst>
            <pc:docMk/>
            <pc:sldMk cId="0" sldId="259"/>
            <ac:picMk id="3" creationId="{00000000-0000-0000-0000-000000000000}"/>
          </ac:picMkLst>
        </pc:picChg>
        <pc:picChg chg="mod">
          <ac:chgData name="Pallavi Burra" userId="790c07cc2f59b1a5" providerId="LiveId" clId="{08832E33-9F35-4EB2-94D1-4AAAA1DA2FC3}" dt="2026-07-15T09:23:03.490" v="0" actId="1076"/>
          <ac:picMkLst>
            <pc:docMk/>
            <pc:sldMk cId="0" sldId="259"/>
            <ac:picMk id="4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F2587-0BB0-4C6B-813D-378B30BFB70B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9710A6-DCAC-4770-83E0-DC1288B011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48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275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A32BD-14A0-BB16-FA2F-BAFE73799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03210-C44A-17E8-125A-0DF7B1C8B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BCE20-1EFB-D415-D9FB-00C1DAE16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CD59C-4E14-EDFC-E059-3DC8A4045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26CA7-62A5-0FCE-441B-0BFC378ED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55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F5D5-C363-371A-0083-3E385E3B4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D3D0C-58AE-2566-97FF-91386542F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57EB8-C170-FC83-B4C6-C3B803866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A8325-EA0F-3427-332E-A8381F58D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EF9D2-E975-1D0A-9432-21212491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50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3EC0-DC9E-9BB7-D7AD-47971A0F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E3278-2241-A3CE-702F-599997B0E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A45A6-BB48-6348-5878-CC95FD156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09372-652D-F4FD-173B-A0F8A810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70417-AE53-659D-7BBE-3E4B116B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0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94C1-329B-F079-F06C-68A0B7AB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B816-577A-D292-DF20-657603A219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316AE-3A33-BAFC-8877-1CAC272A9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D2B05-0BF7-1DCF-173F-A8FED284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5E74D-A7F4-BDFB-D347-9676460F3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E6072-9F18-EF1E-AFD0-958167CB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4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92A7-F041-75BD-A441-D3E388B8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B7723-1D1C-15CA-B27E-8E17245E3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CAF4A-FCD0-762F-2D90-11D04DD27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C20B9-500B-A383-A85F-76DB14058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EDEE8-372C-B89A-60A7-4546C85457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09274C-6D20-503C-7BB2-74BC7AE51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D1FD-A477-2A61-ABA7-E60909C49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18A52-FF74-FCEB-9033-350B37C3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8675-F1E4-21CC-F7D4-6DBF2CCE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6694D6-80B8-FD8C-D85A-8D6EA276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9F191-080E-0545-B6C7-ED00DE00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5F3A5-490F-9755-281F-B7757A0B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5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DB137-9D3F-AF7B-7A05-21798F4BE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0256A7-E8C7-F4F4-DE1C-73216EF2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914A7-CEFF-1E89-436C-252135DA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18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578E-7806-6636-40D4-A5D09DD80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BB5F5-607F-67D3-14B7-DA69D10A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5FAEB-42C2-16BF-D3C2-1DD434E1B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F7979-B976-4173-92E9-4EAA14C4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97B86-065A-107B-7E82-8599A4C89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27F65-C1CD-EBA0-2B7B-A334E519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7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77AD-DBE7-7F1B-6DAF-D4DBC1CC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E8869A-267F-4DCF-0C5F-E995D7B21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260B3-AB38-0C96-1B84-47A7EEE1B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708DB-E32B-507D-04B1-6BA2C05A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7EE14-1B2F-127C-08C8-5BA1FCEDD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D583B-6F6F-C573-C0AE-5DF13E66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09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4DA5-867F-8002-846E-9AA624F00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7B5910-D4D1-F538-C019-B34C78E2E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3AF0E-50DD-461A-210B-2212369B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0B515-C01E-5614-CEEE-6B99236E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E3A28-806F-2460-2342-5234931FE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28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2029B1-9ED7-DBD9-8DDB-2C5BF9B8E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F565A-1B3B-F0C5-BA95-5CCA5412E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4F103-FFFF-79B6-2E3F-60B87F4A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5FF9E-3640-9E62-251C-23AA3F5A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4865C-BA9E-EB2A-0801-1FC84B5FB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5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146F9-7998-89DE-AF8E-02CB58E27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EDFFA-791B-DF4F-EB45-115EED758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90B1F-81B0-035B-8DA7-954C1D8E0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BDE4A-66CB-4FE2-A93D-E32CFE865F62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5282A-79A5-5FB5-5DD1-2A6C1AC8F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1B2A3-373B-B746-0811-1810FD8B4C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C9859-B344-4C19-B33F-80311132E3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6853" y="4745853"/>
            <a:ext cx="3406124" cy="833562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2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2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2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200" b="1" dirty="0"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IN" sz="2200" b="1" spc="-15" dirty="0">
                <a:solidFill>
                  <a:srgbClr val="0C0C0C"/>
                </a:solidFill>
                <a:latin typeface="Times New Roman"/>
                <a:cs typeface="Times New Roman"/>
              </a:rPr>
              <a:t>B Pallavi [192424243]</a:t>
            </a:r>
            <a:endParaRPr lang="en-US" sz="2200" spc="-15" dirty="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972" y="450484"/>
            <a:ext cx="1161157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49915" y="336165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245122" y="2393585"/>
            <a:ext cx="8162489" cy="96629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</a:t>
            </a:r>
            <a:endParaRPr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87495" y="543565"/>
            <a:ext cx="40170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50855" y="907999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666569" y="4745853"/>
            <a:ext cx="53353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200" b="1" dirty="0">
                <a:latin typeface="Times New Roman"/>
                <a:cs typeface="Times New Roman"/>
              </a:rPr>
              <a:t>DSA0304 – 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F04A-2267-3457-4249-436FF4DC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09BA2-B458-F591-A738-ABEC554772C0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CE710B9-FD21-93CD-98EF-423B66336B8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B78BDC8-548A-B1FC-6431-BF22D210B6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47F9609D-AC12-AC65-029F-33E964E5D3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CD3AD-C8B0-1B96-E110-7556AF0129A0}"/>
              </a:ext>
            </a:extLst>
          </p:cNvPr>
          <p:cNvSpPr txBox="1"/>
          <p:nvPr/>
        </p:nvSpPr>
        <p:spPr>
          <a:xfrm>
            <a:off x="872456" y="1904791"/>
            <a:ext cx="9924176" cy="322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the scientific study of the structure, formation, and classification of words in a language.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Morphology Important?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word meaning.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grammatical relationships.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language understanding in NLP.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machine translation, search engines, and spell checking.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371933-1730-F980-2383-31C46DD01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4431"/>
              </p:ext>
            </p:extLst>
          </p:nvPr>
        </p:nvGraphicFramePr>
        <p:xfrm>
          <a:off x="1770544" y="4643707"/>
          <a:ext cx="8656972" cy="189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8486">
                  <a:extLst>
                    <a:ext uri="{9D8B030D-6E8A-4147-A177-3AD203B41FA5}">
                      <a16:colId xmlns:a16="http://schemas.microsoft.com/office/drawing/2014/main" val="2438219275"/>
                    </a:ext>
                  </a:extLst>
                </a:gridCol>
                <a:gridCol w="4328486">
                  <a:extLst>
                    <a:ext uri="{9D8B030D-6E8A-4147-A177-3AD203B41FA5}">
                      <a16:colId xmlns:a16="http://schemas.microsoft.com/office/drawing/2014/main" val="3717652684"/>
                    </a:ext>
                  </a:extLst>
                </a:gridCol>
              </a:tblGrid>
              <a:tr h="4749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Structure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919801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Play+ing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037212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Teach+er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838987"/>
                  </a:ext>
                </a:extLst>
              </a:tr>
              <a:tr h="47492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Unhappy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Un+Happy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519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11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1CBC7-4388-B3F6-3045-C20B75C26971}"/>
              </a:ext>
            </a:extLst>
          </p:cNvPr>
          <p:cNvSpPr txBox="1"/>
          <p:nvPr/>
        </p:nvSpPr>
        <p:spPr>
          <a:xfrm>
            <a:off x="704674" y="1823244"/>
            <a:ext cx="10410737" cy="4305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morpheme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 unit of language that carries meaning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Morphemes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Free Morpheme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stand alone as a complete word.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meaning independently.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Book , Run ,Happy ,School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Bound Morpheme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stand alone.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 attached to another morpheme.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un- , re- , -ed , 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-s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1585518" y="515389"/>
            <a:ext cx="8833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Morphemes – The Building Blocks of Words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5201B1-7CBE-AAB0-F90C-BBB2C5905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645418"/>
              </p:ext>
            </p:extLst>
          </p:nvPr>
        </p:nvGraphicFramePr>
        <p:xfrm>
          <a:off x="5176007" y="2971799"/>
          <a:ext cx="6658641" cy="2220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6374">
                  <a:extLst>
                    <a:ext uri="{9D8B030D-6E8A-4147-A177-3AD203B41FA5}">
                      <a16:colId xmlns:a16="http://schemas.microsoft.com/office/drawing/2014/main" val="1758765450"/>
                    </a:ext>
                  </a:extLst>
                </a:gridCol>
                <a:gridCol w="3332267">
                  <a:extLst>
                    <a:ext uri="{9D8B030D-6E8A-4147-A177-3AD203B41FA5}">
                      <a16:colId xmlns:a16="http://schemas.microsoft.com/office/drawing/2014/main" val="1413880857"/>
                    </a:ext>
                  </a:extLst>
                </a:gridCol>
              </a:tblGrid>
              <a:tr h="55524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Morpheme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11966"/>
                  </a:ext>
                </a:extLst>
              </a:tr>
              <a:tr h="55524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Re+Play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329450"/>
                  </a:ext>
                </a:extLst>
              </a:tr>
              <a:tr h="55524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Book+s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777201"/>
                  </a:ext>
                </a:extLst>
              </a:tr>
              <a:tr h="55524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Play+ed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70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Morphology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707075-5BC0-4ADE-16D4-01A395053A66}"/>
              </a:ext>
            </a:extLst>
          </p:cNvPr>
          <p:cNvSpPr txBox="1"/>
          <p:nvPr/>
        </p:nvSpPr>
        <p:spPr>
          <a:xfrm>
            <a:off x="939568" y="1817358"/>
            <a:ext cx="10622512" cy="1401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</a:t>
            </a:r>
          </a:p>
          <a:p>
            <a:pPr lvl="1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Changes grammatical information without changing the meaning or word class.</a:t>
            </a:r>
          </a:p>
          <a:p>
            <a:pPr lvl="1" algn="just">
              <a:lnSpc>
                <a:spcPct val="150000"/>
              </a:lnSpc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81EB1C-3745-B375-8466-22364C5B0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986491"/>
              </p:ext>
            </p:extLst>
          </p:nvPr>
        </p:nvGraphicFramePr>
        <p:xfrm>
          <a:off x="2032000" y="3898597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865641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582425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Inflected 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17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12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059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98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Bigger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2243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A81E-1B63-E255-7143-927A8798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6AA83FF-3DB0-9CB1-14FD-7CCCAD8088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B21EE01-EE9D-DB4E-3649-BAA5D32B535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F1B477-E81E-A94D-3DBF-94D75B9B61C4}"/>
              </a:ext>
            </a:extLst>
          </p:cNvPr>
          <p:cNvSpPr txBox="1"/>
          <p:nvPr/>
        </p:nvSpPr>
        <p:spPr>
          <a:xfrm>
            <a:off x="964735" y="1874667"/>
            <a:ext cx="10953660" cy="139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Derivational Morphology</a:t>
            </a:r>
          </a:p>
          <a:p>
            <a:pPr lvl="2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new words by adding prefixes or suffixes.</a:t>
            </a:r>
          </a:p>
          <a:p>
            <a:pPr lvl="2" algn="just">
              <a:lnSpc>
                <a:spcPct val="150000"/>
              </a:lnSpc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2A25A7-5F91-3E6D-48F6-DB1636071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54379"/>
              </p:ext>
            </p:extLst>
          </p:nvPr>
        </p:nvGraphicFramePr>
        <p:xfrm>
          <a:off x="2144497" y="3649918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5770938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00648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82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Happy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Unhappy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233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32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8870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296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226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6BE71-5BE7-F594-A9D8-6F381D10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FFB7D96C-0F74-202A-6C22-1029EF08C2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4EAA5D5-1B9A-D143-EBED-8CD3007867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0524FC-10B1-AE63-1F09-804A6EB6C5F3}"/>
              </a:ext>
            </a:extLst>
          </p:cNvPr>
          <p:cNvSpPr txBox="1"/>
          <p:nvPr/>
        </p:nvSpPr>
        <p:spPr>
          <a:xfrm>
            <a:off x="1751845" y="481044"/>
            <a:ext cx="83973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Morphology in Natural Language Processing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CA2060-687A-C02B-CCCF-90202D7039FE}"/>
              </a:ext>
            </a:extLst>
          </p:cNvPr>
          <p:cNvSpPr txBox="1"/>
          <p:nvPr/>
        </p:nvSpPr>
        <p:spPr>
          <a:xfrm>
            <a:off x="848293" y="2164796"/>
            <a:ext cx="10184235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helps computers understand word structures through meaningful morpheme analysis.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stemming by reducing inflected words into common root forms.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root words and grammatical variations for accurate language processing.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machine translation by recognizing morphological differences across languages accurately.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text classification by grouping morphologically related terms together effectively.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chatbots interpret user inputs despite word variations correctly always.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05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FDA1-45B4-C727-6F2B-5AC15CCC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A55326D-569C-9DDD-0204-61E73EEFAC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770" y="335224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F2C6699-20DF-DAFE-4B4A-2035CB1BD9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33522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37D85B-8A76-CBA3-7DCA-0D57390194D2}"/>
              </a:ext>
            </a:extLst>
          </p:cNvPr>
          <p:cNvSpPr txBox="1"/>
          <p:nvPr/>
        </p:nvSpPr>
        <p:spPr>
          <a:xfrm>
            <a:off x="3984771" y="1678121"/>
            <a:ext cx="5159230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= ["playing", "walked", "reading"]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word in words: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word.endswith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"):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print(word, "-&gt;", word[:-3])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word.endswith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("ed"):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print(word, "-&gt;", word[:-2])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 -&gt; play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walked -&gt; walk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-&gt; read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8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88ACE-62C2-A16B-50DE-A7977DF53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61C359-FDE7-18C4-8B3B-0FF1F3D16392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6720373-9A12-1A2E-AEF0-6F1587149C1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629" y="210948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4BD0EA9-6327-682F-037D-131D8FF8E0F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52492" y="26672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FA1542-889D-1989-11BA-54D3284D172D}"/>
              </a:ext>
            </a:extLst>
          </p:cNvPr>
          <p:cNvSpPr txBox="1"/>
          <p:nvPr/>
        </p:nvSpPr>
        <p:spPr>
          <a:xfrm>
            <a:off x="1031846" y="2013679"/>
            <a:ext cx="10503017" cy="333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studies the internal structure of words.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Morphemes are the smallest meaningful units.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Roots, stems, and bases form the foundation of word structure.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and derivational morphology explain grammatical and vocabulary changes.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 is essential for NLP applications such as stemming, lemmatization, machine translation, search engines, and spell checking.</a:t>
            </a:r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17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435</Words>
  <Application>Microsoft Office PowerPoint</Application>
  <PresentationFormat>Widescreen</PresentationFormat>
  <Paragraphs>95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Wingdings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shalini kuppam</dc:creator>
  <cp:lastModifiedBy>Pallavi Burra</cp:lastModifiedBy>
  <cp:revision>5</cp:revision>
  <dcterms:created xsi:type="dcterms:W3CDTF">2025-12-23T10:02:13Z</dcterms:created>
  <dcterms:modified xsi:type="dcterms:W3CDTF">2026-07-15T09:24:04Z</dcterms:modified>
</cp:coreProperties>
</file>